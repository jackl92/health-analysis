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iew from inside a stone structure, looking out towards stairs and a clear, blue sky"/>
          <p:cNvSpPr/>
          <p:nvPr>
            <p:ph type="pic" idx="21"/>
          </p:nvPr>
        </p:nvSpPr>
        <p:spPr>
          <a:xfrm>
            <a:off x="0" y="-1270000"/>
            <a:ext cx="24384000" cy="16272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 modern white building with glass panels against a clear, blue sky"/>
          <p:cNvSpPr/>
          <p:nvPr>
            <p:ph type="pic" idx="21"/>
          </p:nvPr>
        </p:nvSpPr>
        <p:spPr>
          <a:xfrm>
            <a:off x="92710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Small section of a modern shell bridge in Qingdao, Shandong, China with a partly cloudy sky above"/>
          <p:cNvSpPr/>
          <p:nvPr>
            <p:ph type="pic" idx="22"/>
          </p:nvPr>
        </p:nvSpPr>
        <p:spPr>
          <a:xfrm>
            <a:off x="9271000" y="1263848"/>
            <a:ext cx="16773843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Low-angle exterior view of a modern building facade covered with aluminium discs under a clear, blue sky"/>
          <p:cNvSpPr/>
          <p:nvPr>
            <p:ph type="pic" sz="quarter" idx="21"/>
          </p:nvPr>
        </p:nvSpPr>
        <p:spPr>
          <a:xfrm>
            <a:off x="15417800" y="1270000"/>
            <a:ext cx="8144934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Low-angle view of a modern, curved building under a cloudy sky"/>
          <p:cNvSpPr/>
          <p:nvPr>
            <p:ph type="pic" sz="quarter" idx="22"/>
          </p:nvPr>
        </p:nvSpPr>
        <p:spPr>
          <a:xfrm>
            <a:off x="15443200" y="7086600"/>
            <a:ext cx="8138580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View from inside a modern white building with glass panels, looking up to a bright, partly cloudy sky"/>
          <p:cNvSpPr/>
          <p:nvPr>
            <p:ph type="pic" idx="23"/>
          </p:nvPr>
        </p:nvSpPr>
        <p:spPr>
          <a:xfrm>
            <a:off x="-124635" y="1270000"/>
            <a:ext cx="16840169" cy="1124371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Low-angle view of the Azadi Tower in Tehran, Iran against a clear, bright sky"/>
          <p:cNvSpPr/>
          <p:nvPr>
            <p:ph type="pic" idx="21"/>
          </p:nvPr>
        </p:nvSpPr>
        <p:spPr>
          <a:xfrm>
            <a:off x="0" y="-1282700"/>
            <a:ext cx="24384000" cy="16281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8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Voice Health Analysis: Predicting Health Status from Audio Features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pc="-225" sz="11252"/>
            </a:lvl1pPr>
          </a:lstStyle>
          <a:p>
            <a:pPr/>
            <a:r>
              <a:t>Voice Health Analysis: Predicting Health Status from Audio Features</a:t>
            </a:r>
          </a:p>
        </p:txBody>
      </p:sp>
      <p:sp>
        <p:nvSpPr>
          <p:cNvPr id="172" name="Machine Learning Approach to Voice-Based Health Classification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Machine Learning Approach to Voice-Based Health Classification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Age and gender distribution"/>
          <p:cNvSpPr txBox="1"/>
          <p:nvPr/>
        </p:nvSpPr>
        <p:spPr>
          <a:xfrm>
            <a:off x="5270849" y="145551"/>
            <a:ext cx="13842302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Age and gender distribution</a:t>
            </a:r>
          </a:p>
        </p:txBody>
      </p:sp>
      <p:sp>
        <p:nvSpPr>
          <p:cNvPr id="175" name="30-year age gap between healthy (median: 22) and unhealthy (median: 52) groups, presenting a significant confounding variable."/>
          <p:cNvSpPr txBox="1"/>
          <p:nvPr/>
        </p:nvSpPr>
        <p:spPr>
          <a:xfrm>
            <a:off x="1785986" y="9190203"/>
            <a:ext cx="9428575" cy="2768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/>
          </a:lstStyle>
          <a:p>
            <a:pPr/>
            <a:r>
              <a:t>30-year age gap between healthy (median: 22) and unhealthy (median: 52) groups, presenting a significant confounding variable.</a:t>
            </a:r>
          </a:p>
        </p:txBody>
      </p:sp>
      <p:sp>
        <p:nvSpPr>
          <p:cNvPr id="176" name="2,037 voice recordings with roughly balanced gender representation (57% female, 43% male)."/>
          <p:cNvSpPr txBox="1"/>
          <p:nvPr/>
        </p:nvSpPr>
        <p:spPr>
          <a:xfrm>
            <a:off x="12627919" y="9190203"/>
            <a:ext cx="9929150" cy="2114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/>
          </a:lstStyle>
          <a:p>
            <a:pPr/>
            <a:r>
              <a:t>2,037 voice recordings with roughly balanced gender representation (57% female, 43% male).</a:t>
            </a:r>
          </a:p>
        </p:txBody>
      </p:sp>
      <p:pic>
        <p:nvPicPr>
          <p:cNvPr id="177" name="gender_distribution.png" descr="gender_distribut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627919" y="2038087"/>
            <a:ext cx="9929149" cy="6311359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age_distribution_by_health_status.png" descr="age_distribution_by_health_status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85986" y="2038087"/>
            <a:ext cx="9428575" cy="631135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health_status_by_gender.png" descr="health_status_by_gende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85478" y="1594634"/>
            <a:ext cx="12013044" cy="7733339"/>
          </a:xfrm>
          <a:prstGeom prst="rect">
            <a:avLst/>
          </a:prstGeom>
          <a:ln w="12700">
            <a:miter lim="400000"/>
          </a:ln>
        </p:spPr>
      </p:pic>
      <p:sp>
        <p:nvSpPr>
          <p:cNvPr id="181" name="Health status by gender"/>
          <p:cNvSpPr txBox="1"/>
          <p:nvPr/>
        </p:nvSpPr>
        <p:spPr>
          <a:xfrm>
            <a:off x="6255353" y="11561"/>
            <a:ext cx="11873295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Health status by gender</a:t>
            </a:r>
          </a:p>
        </p:txBody>
      </p:sp>
      <p:sp>
        <p:nvSpPr>
          <p:cNvPr id="182" name="Both males and females show similar distribution patterns, with approximately twice as many unhealthy individuals compared to healthy across each gender group."/>
          <p:cNvSpPr txBox="1"/>
          <p:nvPr/>
        </p:nvSpPr>
        <p:spPr>
          <a:xfrm>
            <a:off x="6344097" y="9532657"/>
            <a:ext cx="11695806" cy="342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/>
          </a:lstStyle>
          <a:p>
            <a:pPr/>
            <a:r>
              <a:t>Both males and females show similar distribution patterns, with approximately twice as many unhealthy individuals compared to healthy across each gender group.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:push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Key Discriminator: Spectral Centroid"/>
          <p:cNvSpPr txBox="1"/>
          <p:nvPr/>
        </p:nvSpPr>
        <p:spPr>
          <a:xfrm>
            <a:off x="3163474" y="173616"/>
            <a:ext cx="18184052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Key Discriminator: Spectral Centroid</a:t>
            </a:r>
          </a:p>
        </p:txBody>
      </p:sp>
      <p:sp>
        <p:nvSpPr>
          <p:cNvPr id="185" name="What It Measures:"/>
          <p:cNvSpPr txBox="1"/>
          <p:nvPr/>
        </p:nvSpPr>
        <p:spPr>
          <a:xfrm>
            <a:off x="3161568" y="1918305"/>
            <a:ext cx="6129084" cy="1808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5500"/>
            </a:lvl1pPr>
          </a:lstStyle>
          <a:p>
            <a:pPr/>
            <a:r>
              <a:t>What It Measures:</a:t>
            </a:r>
          </a:p>
        </p:txBody>
      </p:sp>
      <p:sp>
        <p:nvSpPr>
          <p:cNvPr id="186" name="Voice brightness / center of spectral mass - think of it as the 'color' of the voice"/>
          <p:cNvSpPr txBox="1"/>
          <p:nvPr/>
        </p:nvSpPr>
        <p:spPr>
          <a:xfrm>
            <a:off x="3158267" y="4988385"/>
            <a:ext cx="18067466" cy="3739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L="638923" indent="-469900">
              <a:spcBef>
                <a:spcPts val="0"/>
              </a:spcBef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Voice brightness / center of spectral mass - think of it as the 'color' of the voice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14:flip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spectral_centroid_by_health_and_gender.png" descr="spectral_centroid_by_health_and_gender.png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58267" y="318696"/>
            <a:ext cx="18067466" cy="8229496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🔍 Main Finding: Unhealthy voices are significantly darker…"/>
          <p:cNvSpPr txBox="1"/>
          <p:nvPr/>
        </p:nvSpPr>
        <p:spPr>
          <a:xfrm>
            <a:off x="1802969" y="9001146"/>
            <a:ext cx="20778061" cy="3686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1312007" indent="-1172307" algn="ctr">
              <a:spcBef>
                <a:spcPts val="1500"/>
              </a:spcBef>
              <a:buClr>
                <a:srgbClr val="000000"/>
              </a:buClr>
              <a:buSzPct val="123000"/>
              <a:buFont typeface="TimesNewRomanPSMT"/>
              <a:buChar char="•"/>
            </a:pPr>
            <a:r>
              <a:t>🔍 </a:t>
            </a:r>
            <a:r>
              <a:rPr b="1"/>
              <a:t>Main Finding:</a:t>
            </a:r>
            <a:r>
              <a:t> Unhealthy voices are significantly darker</a:t>
            </a:r>
          </a:p>
          <a:p>
            <a:pPr marL="1312007" indent="-1172307" algn="ctr">
              <a:spcBef>
                <a:spcPts val="1500"/>
              </a:spcBef>
              <a:buClr>
                <a:srgbClr val="000000"/>
              </a:buClr>
              <a:buSzPct val="123000"/>
              <a:buFont typeface="TimesNewRomanPSMT"/>
              <a:buChar char="•"/>
            </a:pPr>
            <a:r>
              <a:t>📉 </a:t>
            </a:r>
            <a:r>
              <a:rPr b="1"/>
              <a:t>Female drop:</a:t>
            </a:r>
            <a:r>
              <a:t> 1250 Hz → 1100 Hz (</a:t>
            </a:r>
            <a:r>
              <a:rPr b="1"/>
              <a:t>150 Hz decrease</a:t>
            </a:r>
            <a:r>
              <a:t>)</a:t>
            </a:r>
          </a:p>
          <a:p>
            <a:pPr marL="1312007" indent="-1172307" algn="ctr">
              <a:spcBef>
                <a:spcPts val="1500"/>
              </a:spcBef>
              <a:buClr>
                <a:srgbClr val="000000"/>
              </a:buClr>
              <a:buSzPct val="123000"/>
              <a:buFont typeface="TimesNewRomanPSMT"/>
              <a:buChar char="•"/>
            </a:pPr>
            <a:r>
              <a:t>📉 </a:t>
            </a:r>
            <a:r>
              <a:rPr b="1"/>
              <a:t>Male drop:</a:t>
            </a:r>
            <a:r>
              <a:t> 1050 Hz → 950 Hz (</a:t>
            </a:r>
            <a:r>
              <a:rPr b="1"/>
              <a:t>100 Hz decrease</a:t>
            </a:r>
            <a:r>
              <a:t>)</a:t>
            </a:r>
          </a:p>
          <a:p>
            <a:pPr marL="1312007" indent="-1172307" algn="ctr">
              <a:spcBef>
                <a:spcPts val="1500"/>
              </a:spcBef>
              <a:buClr>
                <a:srgbClr val="000000"/>
              </a:buClr>
              <a:buSzPct val="123000"/>
              <a:buFont typeface="TimesNewRomanPSMT"/>
              <a:buChar char="•"/>
            </a:pPr>
            <a:r>
              <a:t>🎯 </a:t>
            </a:r>
            <a:r>
              <a:rPr b="1"/>
              <a:t>Convergence effect:</a:t>
            </a:r>
            <a:r>
              <a:t> Unhealthy voices become less gender-distinct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olloff: Indicator of Vocal Instability"/>
          <p:cNvSpPr txBox="1"/>
          <p:nvPr/>
        </p:nvSpPr>
        <p:spPr>
          <a:xfrm>
            <a:off x="3158965" y="52004"/>
            <a:ext cx="17522318" cy="3483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defRPr b="1" spc="-170" sz="8500"/>
            </a:pPr>
            <a:r>
              <a:t>Rolloff: Indicator of Vocal Instability</a:t>
            </a:r>
          </a:p>
          <a:p>
            <a:pPr>
              <a:lnSpc>
                <a:spcPct val="80000"/>
              </a:lnSpc>
              <a:spcBef>
                <a:spcPts val="0"/>
              </a:spcBef>
              <a:defRPr b="1" spc="-170" sz="8500"/>
            </a:pPr>
          </a:p>
        </p:txBody>
      </p:sp>
      <p:sp>
        <p:nvSpPr>
          <p:cNvPr id="192" name="What It Measures:"/>
          <p:cNvSpPr txBox="1"/>
          <p:nvPr/>
        </p:nvSpPr>
        <p:spPr>
          <a:xfrm>
            <a:off x="3161568" y="1918305"/>
            <a:ext cx="6129084" cy="1808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5500"/>
            </a:lvl1pPr>
          </a:lstStyle>
          <a:p>
            <a:pPr/>
            <a:r>
              <a:t>What It Measures:</a:t>
            </a:r>
          </a:p>
        </p:txBody>
      </p:sp>
      <p:sp>
        <p:nvSpPr>
          <p:cNvPr id="193" name="Frequency below which 85% of voice energy is contained - indicates breathiness and vocal stability"/>
          <p:cNvSpPr txBox="1"/>
          <p:nvPr/>
        </p:nvSpPr>
        <p:spPr>
          <a:xfrm>
            <a:off x="3158267" y="4398174"/>
            <a:ext cx="18067466" cy="4919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L="638923" indent="-469900">
              <a:spcBef>
                <a:spcPts val="0"/>
              </a:spcBef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Frequency below which 85% of voice energy is contained - indicates breathiness and vocal stability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push dir="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rolloff_by_health_and_gender.png" descr="rolloff_by_health_and_gender.png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58155" y="301872"/>
            <a:ext cx="18067690" cy="8224244"/>
          </a:xfrm>
          <a:prstGeom prst="rect">
            <a:avLst/>
          </a:prstGeom>
          <a:ln w="12700">
            <a:miter lim="400000"/>
          </a:ln>
        </p:spPr>
      </p:pic>
      <p:sp>
        <p:nvSpPr>
          <p:cNvPr id="196" name="✅ Healthy voices: Tight, consistent patterns…"/>
          <p:cNvSpPr txBox="1"/>
          <p:nvPr/>
        </p:nvSpPr>
        <p:spPr>
          <a:xfrm>
            <a:off x="3158155" y="8714064"/>
            <a:ext cx="18067690" cy="55409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1312007" indent="-1172307" algn="ctr">
              <a:spcBef>
                <a:spcPts val="1300"/>
              </a:spcBef>
              <a:buClr>
                <a:srgbClr val="CCCCCC"/>
              </a:buClr>
              <a:buSzPct val="123000"/>
              <a:buFont typeface="TimesNewRomanPSMT"/>
              <a:buChar char="•"/>
              <a:defRPr sz="3700"/>
            </a:pPr>
            <a:r>
              <a:t>✅ </a:t>
            </a:r>
            <a:r>
              <a:rPr b="1"/>
              <a:t>Healthy voices:</a:t>
            </a:r>
            <a:r>
              <a:t> Tight, consistent patterns</a:t>
            </a:r>
          </a:p>
          <a:p>
            <a:pPr lvl="1" marL="1769207" indent="-1172307" algn="ctr">
              <a:spcBef>
                <a:spcPts val="1300"/>
              </a:spcBef>
              <a:buClr>
                <a:srgbClr val="CCCCCC"/>
              </a:buClr>
              <a:buSzPct val="123000"/>
              <a:buFont typeface="TimesNewRomanPSMT"/>
              <a:buChar char="◦"/>
              <a:defRPr sz="3700"/>
            </a:pPr>
            <a:r>
              <a:t>Males: 1100-1300 Hz (narrow range)</a:t>
            </a:r>
          </a:p>
          <a:p>
            <a:pPr lvl="1" marL="1769207" indent="-1172307" algn="ctr">
              <a:spcBef>
                <a:spcPts val="1300"/>
              </a:spcBef>
              <a:buClr>
                <a:srgbClr val="CCCCCC"/>
              </a:buClr>
              <a:buSzPct val="123000"/>
              <a:buFont typeface="TimesNewRomanPSMT"/>
              <a:buChar char="◦"/>
              <a:defRPr sz="3700"/>
            </a:pPr>
            <a:r>
              <a:t>Females: Similar stability</a:t>
            </a:r>
          </a:p>
          <a:p>
            <a:pPr marL="1312007" indent="-1172307" algn="ctr">
              <a:spcBef>
                <a:spcPts val="1300"/>
              </a:spcBef>
              <a:buClr>
                <a:srgbClr val="CCCCCC"/>
              </a:buClr>
              <a:buSzPct val="123000"/>
              <a:buFont typeface="TimesNewRomanPSMT"/>
              <a:buChar char="•"/>
              <a:defRPr sz="3700"/>
            </a:pPr>
            <a:r>
              <a:t>⚠️ </a:t>
            </a:r>
            <a:r>
              <a:rPr b="1"/>
              <a:t>Unhealthy voices:</a:t>
            </a:r>
            <a:r>
              <a:t> Extreme variability</a:t>
            </a:r>
          </a:p>
          <a:p>
            <a:pPr lvl="1" marL="1769207" indent="-1172307" algn="ctr">
              <a:spcBef>
                <a:spcPts val="1300"/>
              </a:spcBef>
              <a:buClr>
                <a:srgbClr val="CCCCCC"/>
              </a:buClr>
              <a:buSzPct val="123000"/>
              <a:buFont typeface="TimesNewRomanPSMT"/>
              <a:buChar char="◦"/>
              <a:defRPr sz="3700"/>
            </a:pPr>
            <a:r>
              <a:t>Males: 1000-8000 Hz range (8x spread!)</a:t>
            </a:r>
          </a:p>
          <a:p>
            <a:pPr lvl="1" marL="1769207" indent="-1172307" algn="ctr">
              <a:spcBef>
                <a:spcPts val="1300"/>
              </a:spcBef>
              <a:buClr>
                <a:srgbClr val="CCCCCC"/>
              </a:buClr>
              <a:buSzPct val="123000"/>
              <a:buFont typeface="TimesNewRomanPSMT"/>
              <a:buChar char="◦"/>
              <a:defRPr sz="3700"/>
            </a:pPr>
            <a:r>
              <a:t>Suggests vocal fatigue, instability, breathiness</a:t>
            </a:r>
          </a:p>
          <a:p>
            <a:pPr marL="1312007" indent="-1172307" algn="ctr">
              <a:spcBef>
                <a:spcPts val="1300"/>
              </a:spcBef>
              <a:buClr>
                <a:srgbClr val="CCCCCC"/>
              </a:buClr>
              <a:buSzPct val="123000"/>
              <a:buFont typeface="TimesNewRomanPSMT"/>
              <a:buChar char="•"/>
              <a:defRPr sz="3700"/>
            </a:pPr>
            <a:r>
              <a:t>🚹 </a:t>
            </a:r>
            <a:r>
              <a:rPr b="1"/>
              <a:t>Gender effect:</a:t>
            </a:r>
            <a:r>
              <a:t> Males show dramatic changes, females stable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14:flip dir="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Feature Diversity: MFCC Correlation Matrix"/>
          <p:cNvSpPr txBox="1"/>
          <p:nvPr/>
        </p:nvSpPr>
        <p:spPr>
          <a:xfrm>
            <a:off x="3158965" y="-105666"/>
            <a:ext cx="18951020" cy="2431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Feature Diversity: MFCC Correlation Matrix</a:t>
            </a:r>
          </a:p>
        </p:txBody>
      </p:sp>
      <p:sp>
        <p:nvSpPr>
          <p:cNvPr id="199" name="What It Measures:"/>
          <p:cNvSpPr txBox="1"/>
          <p:nvPr/>
        </p:nvSpPr>
        <p:spPr>
          <a:xfrm>
            <a:off x="3161568" y="2350105"/>
            <a:ext cx="6129084" cy="944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5500"/>
            </a:lvl1pPr>
          </a:lstStyle>
          <a:p>
            <a:pPr/>
            <a:r>
              <a:t>What It Measures:</a:t>
            </a:r>
          </a:p>
        </p:txBody>
      </p:sp>
      <p:sp>
        <p:nvSpPr>
          <p:cNvPr id="200" name="Mel-Frequency Cepstral Coefficients - capture voice characteristics the way human ears perceive sound"/>
          <p:cNvSpPr txBox="1"/>
          <p:nvPr/>
        </p:nvSpPr>
        <p:spPr>
          <a:xfrm>
            <a:off x="3158267" y="4988385"/>
            <a:ext cx="18067466" cy="3739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L="638923" indent="-469900">
              <a:spcBef>
                <a:spcPts val="0"/>
              </a:spcBef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Mel-Frequency Cepstral Coefficients - capture voice characteristics the way human ears perceive sound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14:prism dir="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mfcc_correlation_matrix.png" descr="mfcc_correlation_matrix.png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418113" y="539453"/>
            <a:ext cx="15547774" cy="8848993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🎵 20 MFCC features (mfcc1-mfcc20)…"/>
          <p:cNvSpPr txBox="1"/>
          <p:nvPr/>
        </p:nvSpPr>
        <p:spPr>
          <a:xfrm>
            <a:off x="1100924" y="10166916"/>
            <a:ext cx="11227661" cy="2868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1312007" indent="-1172307">
              <a:spcBef>
                <a:spcPts val="1000"/>
              </a:spcBef>
              <a:buClr>
                <a:srgbClr val="CCCCCC"/>
              </a:buClr>
              <a:buSzPct val="123000"/>
              <a:buFont typeface="TimesNewRomanPSMT"/>
              <a:buChar char="•"/>
              <a:defRPr sz="4000"/>
            </a:pPr>
            <a:r>
              <a:t>🎵 20 MFCC features (mfcc1-mfcc20)</a:t>
            </a:r>
          </a:p>
          <a:p>
            <a:pPr marL="1312007" indent="-1172307">
              <a:spcBef>
                <a:spcPts val="1000"/>
              </a:spcBef>
              <a:buClr>
                <a:srgbClr val="CCCCCC"/>
              </a:buClr>
              <a:buSzPct val="123000"/>
              <a:buFont typeface="TimesNewRomanPSMT"/>
              <a:buChar char="•"/>
              <a:defRPr sz="4000"/>
            </a:pPr>
            <a:r>
              <a:t>✅ Low correlations (mostly &lt; 0.4)</a:t>
            </a:r>
          </a:p>
          <a:p>
            <a:pPr lvl="1" marL="1769207" indent="-1172307">
              <a:spcBef>
                <a:spcPts val="1000"/>
              </a:spcBef>
              <a:buClr>
                <a:srgbClr val="CCCCCC"/>
              </a:buClr>
              <a:buSzPct val="123000"/>
              <a:buFont typeface="TimesNewRomanPSMT"/>
              <a:buChar char="◦"/>
              <a:defRPr sz="4000"/>
            </a:pPr>
            <a:r>
              <a:t>Each feature captures unique information</a:t>
            </a:r>
          </a:p>
          <a:p>
            <a:pPr lvl="1" marL="1769207" indent="-1172307">
              <a:spcBef>
                <a:spcPts val="1000"/>
              </a:spcBef>
              <a:buClr>
                <a:srgbClr val="CCCCCC"/>
              </a:buClr>
              <a:buSzPct val="123000"/>
              <a:buFont typeface="TimesNewRomanPSMT"/>
              <a:buChar char="◦"/>
              <a:defRPr sz="4000"/>
            </a:pPr>
            <a:r>
              <a:t>No redundancy issues</a:t>
            </a:r>
          </a:p>
        </p:txBody>
      </p:sp>
      <p:sp>
        <p:nvSpPr>
          <p:cNvPr id="204" name="💡 Why it matters:…"/>
          <p:cNvSpPr txBox="1"/>
          <p:nvPr/>
        </p:nvSpPr>
        <p:spPr>
          <a:xfrm>
            <a:off x="12565452" y="10265392"/>
            <a:ext cx="11226801" cy="2671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1312007" indent="-1172307">
              <a:spcBef>
                <a:spcPts val="1000"/>
              </a:spcBef>
              <a:buClr>
                <a:srgbClr val="CCCCCC"/>
              </a:buClr>
              <a:buSzPct val="123000"/>
              <a:buFont typeface="TimesNewRomanPSMT"/>
              <a:buChar char="•"/>
              <a:defRPr sz="4000"/>
            </a:pPr>
            <a:r>
              <a:t>💡 Why it matters:</a:t>
            </a:r>
          </a:p>
          <a:p>
            <a:pPr lvl="1" marL="1769207" indent="-1172307">
              <a:spcBef>
                <a:spcPts val="1000"/>
              </a:spcBef>
              <a:buClr>
                <a:srgbClr val="CCCCCC"/>
              </a:buClr>
              <a:buSzPct val="123000"/>
              <a:buFont typeface="TimesNewRomanPSMT"/>
              <a:buChar char="◦"/>
              <a:defRPr sz="4000"/>
            </a:pPr>
            <a:r>
              <a:t>Diverse features = better model performance</a:t>
            </a:r>
          </a:p>
          <a:p>
            <a:pPr lvl="1" marL="1769207" indent="-1172307">
              <a:spcBef>
                <a:spcPts val="1000"/>
              </a:spcBef>
              <a:buClr>
                <a:srgbClr val="CCCCCC"/>
              </a:buClr>
              <a:buSzPct val="123000"/>
              <a:buFont typeface="TimesNewRomanPSMT"/>
              <a:buChar char="◦"/>
              <a:defRPr sz="4000"/>
            </a:pPr>
            <a:r>
              <a:t>No multicollinearity problems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14:prism dir="r" isContent="1" isInverted="0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Machine Learning Results &amp; Key Takeaways"/>
          <p:cNvSpPr txBox="1"/>
          <p:nvPr/>
        </p:nvSpPr>
        <p:spPr>
          <a:xfrm>
            <a:off x="1243235" y="6168806"/>
            <a:ext cx="21897531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Machine Learning Results &amp; Key Takeaways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:push dir="l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confusion_matrix_best_model.png" descr="confusion_matrix_best_model.png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31549" y="2136655"/>
            <a:ext cx="12520902" cy="8436176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Best Model: Gradient Boosting"/>
          <p:cNvSpPr txBox="1"/>
          <p:nvPr/>
        </p:nvSpPr>
        <p:spPr>
          <a:xfrm>
            <a:off x="4552981" y="145551"/>
            <a:ext cx="15278038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Best Model: Gradient Boosting</a:t>
            </a:r>
          </a:p>
        </p:txBody>
      </p:sp>
      <p:sp>
        <p:nvSpPr>
          <p:cNvPr id="210" name="🎯 Accuracy: 85%"/>
          <p:cNvSpPr txBox="1"/>
          <p:nvPr/>
        </p:nvSpPr>
        <p:spPr>
          <a:xfrm>
            <a:off x="9619513" y="11185547"/>
            <a:ext cx="514497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b="1" sz="4700"/>
            </a:pPr>
            <a:r>
              <a:rPr b="0"/>
              <a:t>🎯 </a:t>
            </a:r>
            <a:r>
              <a:t>Accuracy:</a:t>
            </a:r>
            <a:r>
              <a:rPr b="0"/>
              <a:t> 85%</a:t>
            </a:r>
          </a:p>
        </p:txBody>
      </p:sp>
      <p:sp>
        <p:nvSpPr>
          <p:cNvPr id="211" name="📊 Best features: Spectral centroid, rolloff, age"/>
          <p:cNvSpPr txBox="1"/>
          <p:nvPr/>
        </p:nvSpPr>
        <p:spPr>
          <a:xfrm>
            <a:off x="7104278" y="12687265"/>
            <a:ext cx="10175444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  <a:r>
              <a:t>📊 </a:t>
            </a:r>
            <a:r>
              <a:t>Best features:</a:t>
            </a:r>
            <a:r>
              <a:t> Spectral centroid, rolloff, age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14:prism dir="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Key Findings"/>
          <p:cNvSpPr txBox="1"/>
          <p:nvPr/>
        </p:nvSpPr>
        <p:spPr>
          <a:xfrm>
            <a:off x="7783753" y="288233"/>
            <a:ext cx="8816494" cy="1849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232" sz="11600"/>
            </a:lvl1pPr>
          </a:lstStyle>
          <a:p>
            <a:pPr/>
            <a:r>
              <a:t>Key Findings</a:t>
            </a:r>
          </a:p>
        </p:txBody>
      </p:sp>
      <p:sp>
        <p:nvSpPr>
          <p:cNvPr id="214" name="🎤 Voice Patterns…"/>
          <p:cNvSpPr txBox="1"/>
          <p:nvPr/>
        </p:nvSpPr>
        <p:spPr>
          <a:xfrm>
            <a:off x="7580657" y="2755035"/>
            <a:ext cx="9222687" cy="523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4000"/>
            </a:pPr>
            <a:r>
              <a:t>🎤 Voice Patterns</a:t>
            </a:r>
          </a:p>
          <a:p>
            <a:pPr marL="1312007" indent="-1172307">
              <a:buClr>
                <a:srgbClr val="CCCCCC"/>
              </a:buClr>
              <a:buSzPct val="123000"/>
              <a:buFont typeface="TimesNewRomanPSMT"/>
              <a:buChar char="•"/>
              <a:defRPr sz="4000"/>
            </a:pPr>
            <a:r>
              <a:t>Spectral centroid strongest predictor</a:t>
            </a:r>
          </a:p>
          <a:p>
            <a:pPr marL="1312007" indent="-1172307">
              <a:buClr>
                <a:srgbClr val="CCCCCC"/>
              </a:buClr>
              <a:buSzPct val="123000"/>
              <a:buFont typeface="TimesNewRomanPSMT"/>
              <a:buChar char="•"/>
              <a:defRPr sz="4000"/>
            </a:pPr>
            <a:r>
              <a:t>Rolloff shows extreme variability</a:t>
            </a:r>
          </a:p>
          <a:p>
            <a:pPr marL="1312007" indent="-1172307">
              <a:buClr>
                <a:srgbClr val="CCCCCC"/>
              </a:buClr>
              <a:buSzPct val="123000"/>
              <a:buFont typeface="TimesNewRomanPSMT"/>
              <a:buChar char="•"/>
              <a:defRPr sz="4000"/>
            </a:pPr>
            <a:r>
              <a:t>MFCCs capture nuanced differences</a:t>
            </a:r>
          </a:p>
        </p:txBody>
      </p:sp>
      <p:sp>
        <p:nvSpPr>
          <p:cNvPr id="215" name="⚠️ Challenges…"/>
          <p:cNvSpPr txBox="1"/>
          <p:nvPr/>
        </p:nvSpPr>
        <p:spPr>
          <a:xfrm>
            <a:off x="7783754" y="8604011"/>
            <a:ext cx="8816493" cy="4131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4000"/>
            </a:pPr>
            <a:r>
              <a:t>⚠️ Challenges</a:t>
            </a:r>
          </a:p>
          <a:p>
            <a:pPr marL="1312007" indent="-1172307">
              <a:buClr>
                <a:srgbClr val="CCCCCC"/>
              </a:buClr>
              <a:buSzPct val="123000"/>
              <a:buFont typeface="TimesNewRomanPSMT"/>
              <a:buChar char="•"/>
              <a:defRPr sz="4000"/>
            </a:pPr>
            <a:r>
              <a:t>Age confounding (30-year gap)</a:t>
            </a:r>
          </a:p>
          <a:p>
            <a:pPr marL="1312007" indent="-1172307">
              <a:buClr>
                <a:srgbClr val="CCCCCC"/>
              </a:buClr>
              <a:buSzPct val="123000"/>
              <a:buFont typeface="TimesNewRomanPSMT"/>
              <a:buChar char="•"/>
              <a:defRPr sz="4000"/>
            </a:pPr>
            <a:r>
              <a:t>Class imbalance (66/34 split)</a:t>
            </a:r>
          </a:p>
          <a:p>
            <a:pPr marL="1312007" indent="-1172307">
              <a:buClr>
                <a:srgbClr val="CCCCCC"/>
              </a:buClr>
              <a:buSzPct val="123000"/>
              <a:buFont typeface="TimesNewRomanPSMT"/>
              <a:buChar char="•"/>
              <a:defRPr sz="4000"/>
            </a:pPr>
            <a:r>
              <a:t>Gender-specific effects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14:prism dir="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🔮 Recommendations…"/>
          <p:cNvSpPr txBox="1"/>
          <p:nvPr/>
        </p:nvSpPr>
        <p:spPr>
          <a:xfrm>
            <a:off x="6844361" y="3962379"/>
            <a:ext cx="10695277" cy="5791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🔮 Recommendations</a:t>
            </a:r>
          </a:p>
          <a:p>
            <a:pPr marL="1312007" indent="-1172307">
              <a:buClr>
                <a:srgbClr val="CCCCCC"/>
              </a:buClr>
              <a:buSzPct val="123000"/>
              <a:buFont typeface="TimesNewRomanPSMT"/>
              <a:buChar char="•"/>
            </a:pPr>
            <a:r>
              <a:t>Age-matched validation needed</a:t>
            </a:r>
          </a:p>
          <a:p>
            <a:pPr marL="1312007" indent="-1172307">
              <a:buClr>
                <a:srgbClr val="CCCCCC"/>
              </a:buClr>
              <a:buSzPct val="123000"/>
              <a:buFont typeface="TimesNewRomanPSMT"/>
              <a:buChar char="•"/>
            </a:pPr>
            <a:r>
              <a:t>Gender-specific models</a:t>
            </a:r>
          </a:p>
          <a:p>
            <a:pPr marL="1312007" indent="-1172307">
              <a:buClr>
                <a:srgbClr val="CCCCCC"/>
              </a:buClr>
              <a:buSzPct val="123000"/>
              <a:buFont typeface="TimesNewRomanPSMT"/>
              <a:buChar char="•"/>
            </a:pPr>
            <a:r>
              <a:t>Control for demographic variables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Voice features show promising discriminative power, but age remains the elephant in the room"/>
          <p:cNvSpPr txBox="1"/>
          <p:nvPr/>
        </p:nvSpPr>
        <p:spPr>
          <a:xfrm>
            <a:off x="3398179" y="4988385"/>
            <a:ext cx="17587642" cy="3739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L="638923" indent="-469900">
              <a:spcBef>
                <a:spcPts val="0"/>
              </a:spcBef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Voice features show promising discriminative power, but age remains the elephant in the room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14:prism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